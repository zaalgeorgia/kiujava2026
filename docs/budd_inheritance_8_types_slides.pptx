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66"/>
    <p:restoredTop sz="94665"/>
  </p:normalViewPr>
  <p:slideViewPr>
    <p:cSldViewPr snapToGrid="0" snapToObjects="1">
      <p:cViewPr>
        <p:scale>
          <a:sx n="105" d="100"/>
          <a:sy n="105" d="100"/>
        </p:scale>
        <p:origin x="1232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Inheritance Types in OOP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Timothy Budd — Chapter 8</a:t>
            </a:r>
          </a:p>
          <a:p>
            <a:r>
              <a:t>An Introduction to Object-Oriented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sz="2800"/>
              <a:t>Timothy Budd identifies eight conceptual ways inheritance is used in practice:</a:t>
            </a:r>
            <a:br>
              <a:rPr sz="2800"/>
            </a:br>
            <a:endParaRPr lang="en-US" sz="2800"/>
          </a:p>
          <a:p>
            <a:pPr marL="0" indent="0">
              <a:buNone/>
              <a:defRPr sz="2000"/>
            </a:pPr>
            <a:r>
              <a:rPr sz="2800"/>
              <a:t>Specialization, Specification, Construction, Generalization, Extension,</a:t>
            </a:r>
            <a:br>
              <a:rPr sz="2800"/>
            </a:br>
            <a:r>
              <a:rPr sz="2800"/>
              <a:t>Limitation, Variance, and Combination.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Specialization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/>
              <a:t>Subclass represents a more specific type of the parent.</a:t>
            </a:r>
            <a:br>
              <a:rPr sz="2800"/>
            </a:br>
            <a:r>
              <a:rPr sz="2800"/>
              <a:t>This follows the classic 'is-a' relationship.</a:t>
            </a:r>
            <a:br>
              <a:rPr sz="2800"/>
            </a:br>
            <a:r>
              <a:rPr sz="2800"/>
              <a:t>Subclass can override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Example: Specialization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036367" cy="44012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>
              <a:rPr sz="2800"/>
            </a:br>
            <a:r>
              <a:rPr sz="2800"/>
              <a:t>class Animal {</a:t>
            </a:r>
            <a:br>
              <a:rPr sz="2800"/>
            </a:br>
            <a:r>
              <a:rPr sz="2800"/>
              <a:t>    void speak() { System.out.println("Animal sound"); }</a:t>
            </a:r>
            <a:br>
              <a:rPr sz="2800"/>
            </a:br>
            <a:r>
              <a:rPr sz="2800"/>
              <a:t>}</a:t>
            </a:r>
            <a:br>
              <a:rPr sz="2800"/>
            </a:br>
            <a:br>
              <a:rPr sz="2800"/>
            </a:br>
            <a:r>
              <a:rPr sz="2800"/>
              <a:t>class Dog extends Animal {</a:t>
            </a:r>
            <a:br>
              <a:rPr sz="2800"/>
            </a:br>
            <a:r>
              <a:rPr sz="2800"/>
              <a:t>    @Override</a:t>
            </a:r>
            <a:br>
              <a:rPr sz="2800"/>
            </a:br>
            <a:r>
              <a:rPr sz="2800"/>
              <a:t>    void speak() { System.out.println("Bark"); }</a:t>
            </a:r>
            <a:br>
              <a:rPr sz="2800"/>
            </a:br>
            <a:r>
              <a:rPr sz="2800"/>
              <a:t>}</a:t>
            </a:r>
            <a:br>
              <a:rPr sz="2800"/>
            </a:b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/>
              <a:t>Parent defines required behavior but not implementation.</a:t>
            </a:r>
            <a:br>
              <a:rPr sz="2800"/>
            </a:br>
            <a:r>
              <a:rPr sz="2800"/>
              <a:t>Subclasses must implement the operations.</a:t>
            </a:r>
            <a:br>
              <a:rPr sz="2800"/>
            </a:br>
            <a:r>
              <a:rPr sz="2800"/>
              <a:t>Often implemented via interfaces.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Example: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21182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sz="2400"/>
            </a:br>
            <a:r>
              <a:rPr sz="2400"/>
              <a:t>interface Shape {</a:t>
            </a:r>
            <a:br>
              <a:rPr sz="2400"/>
            </a:br>
            <a:r>
              <a:rPr sz="2400"/>
              <a:t>    double area();</a:t>
            </a:r>
            <a:br>
              <a:rPr sz="2400"/>
            </a:br>
            <a:r>
              <a:rPr sz="2400"/>
              <a:t>}</a:t>
            </a:r>
            <a:br>
              <a:rPr sz="2400"/>
            </a:br>
            <a:br>
              <a:rPr sz="2400"/>
            </a:br>
            <a:r>
              <a:rPr sz="2400"/>
              <a:t>class Circle implements Shape {</a:t>
            </a:r>
            <a:br>
              <a:rPr sz="2400"/>
            </a:br>
            <a:r>
              <a:rPr sz="2400"/>
              <a:t>    private double r;</a:t>
            </a:r>
            <a:br>
              <a:rPr sz="2400"/>
            </a:br>
            <a:br>
              <a:rPr sz="2400"/>
            </a:br>
            <a:r>
              <a:rPr sz="2400"/>
              <a:t>    Circle(double r) { this.r = r; }</a:t>
            </a:r>
            <a:br>
              <a:rPr sz="2400"/>
            </a:br>
            <a:br>
              <a:rPr sz="2400"/>
            </a:br>
            <a:r>
              <a:rPr sz="2400"/>
              <a:t>    public double area() {</a:t>
            </a:r>
            <a:br>
              <a:rPr sz="2400"/>
            </a:br>
            <a:r>
              <a:rPr sz="2400"/>
              <a:t>        return Math.PI * r * r;</a:t>
            </a:r>
            <a:br>
              <a:rPr sz="2400"/>
            </a:br>
            <a:r>
              <a:rPr sz="2400"/>
              <a:t>    }</a:t>
            </a:r>
            <a:br>
              <a:rPr sz="2400"/>
            </a:br>
            <a:r>
              <a:rPr sz="2400"/>
              <a:t>}</a:t>
            </a:r>
            <a:br>
              <a:rPr sz="2400"/>
            </a:b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/>
              <a:t>Subclass inherits mainly to reuse implementation.</a:t>
            </a:r>
            <a:br>
              <a:rPr sz="2800"/>
            </a:br>
            <a:r>
              <a:rPr sz="2800"/>
              <a:t>The conceptual 'is-a' relationship may not exist.</a:t>
            </a:r>
            <a:br>
              <a:rPr sz="2800"/>
            </a:br>
            <a:r>
              <a:rPr sz="2800"/>
              <a:t>Often considered poor design.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Example: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845959" cy="30469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>
              <a:rPr sz="2400"/>
            </a:br>
            <a:r>
              <a:rPr sz="2400"/>
              <a:t>class Stack&lt;E&gt; extends java.util.ArrayList&lt;E&gt; {</a:t>
            </a:r>
            <a:br>
              <a:rPr sz="2400"/>
            </a:br>
            <a:br>
              <a:rPr sz="2400"/>
            </a:br>
            <a:r>
              <a:rPr sz="2400"/>
              <a:t>    void push(E e) { add(e); }</a:t>
            </a:r>
            <a:br>
              <a:rPr sz="2400"/>
            </a:br>
            <a:br>
              <a:rPr sz="2400"/>
            </a:br>
            <a:r>
              <a:rPr sz="2400"/>
              <a:t>    E pop() { return remove(size() - 1); }</a:t>
            </a:r>
            <a:br>
              <a:rPr sz="2400"/>
            </a:br>
            <a:r>
              <a:rPr sz="2400"/>
              <a:t>}</a:t>
            </a:r>
            <a:br>
              <a:rPr sz="2400"/>
            </a:b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Generalization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/>
              <a:t>Subclass broadens the behavior of the parent class.</a:t>
            </a:r>
            <a:br>
              <a:rPr sz="2800"/>
            </a:br>
            <a:r>
              <a:rPr sz="2800"/>
              <a:t>Overrides methods to support more general cases.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Example: Generalization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r>
              <a:t>class Window {</a:t>
            </a:r>
            <a:br/>
            <a:r>
              <a:t>    void drawBackground() {</a:t>
            </a:r>
            <a:br/>
            <a:r>
              <a:t>        System.out.println("Draw white background");</a:t>
            </a:r>
            <a:br/>
            <a:r>
              <a:t>    }</a:t>
            </a:r>
            <a:br/>
            <a:r>
              <a:t>}</a:t>
            </a:r>
            <a:br/>
            <a:br/>
            <a:r>
              <a:t>class ColoredWindow extends Window {</a:t>
            </a:r>
            <a:br/>
            <a:r>
              <a:t>    String color;</a:t>
            </a:r>
            <a:br/>
            <a:br/>
            <a:r>
              <a:t>    ColoredWindow(String color) {</a:t>
            </a:r>
            <a:br/>
            <a:r>
              <a:t>        this.color = color;</a:t>
            </a:r>
            <a:br/>
            <a:r>
              <a:t>    }</a:t>
            </a:r>
            <a:br/>
            <a:br/>
            <a:r>
              <a:t>    @Override</a:t>
            </a:r>
            <a:br/>
            <a:r>
              <a:t>    void drawBackground() {</a:t>
            </a:r>
            <a:br/>
            <a:r>
              <a:t>        System.out.println("Draw " + color + " background");</a:t>
            </a:r>
            <a:br/>
            <a:r>
              <a:t>    }</a:t>
            </a:r>
            <a:br/>
            <a:r>
              <a:t>}</a:t>
            </a:r>
            <a:br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/>
              <a:t>Subclass adds new behavior but does not modify inherited methods.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Example: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166864" cy="4893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>
              <a:rPr sz="2400"/>
            </a:br>
            <a:r>
              <a:rPr sz="2400"/>
              <a:t>class Person {</a:t>
            </a:r>
            <a:br>
              <a:rPr sz="2400"/>
            </a:br>
            <a:r>
              <a:rPr sz="2400"/>
              <a:t>    String name;</a:t>
            </a:r>
            <a:br>
              <a:rPr sz="2400"/>
            </a:br>
            <a:r>
              <a:rPr sz="2400"/>
              <a:t>}</a:t>
            </a:r>
            <a:br>
              <a:rPr sz="2400"/>
            </a:br>
            <a:br>
              <a:rPr sz="2400"/>
            </a:br>
            <a:r>
              <a:rPr sz="2400"/>
              <a:t>class Employee extends Person {</a:t>
            </a:r>
            <a:br>
              <a:rPr sz="2400"/>
            </a:br>
            <a:r>
              <a:rPr sz="2400"/>
              <a:t>    double salary;</a:t>
            </a:r>
            <a:br>
              <a:rPr sz="2400"/>
            </a:br>
            <a:br>
              <a:rPr sz="2400"/>
            </a:br>
            <a:r>
              <a:rPr sz="2400"/>
              <a:t>    void pay() {</a:t>
            </a:r>
            <a:br>
              <a:rPr sz="2400"/>
            </a:br>
            <a:r>
              <a:rPr sz="2400"/>
              <a:t>        System.out.println("Paying salary");</a:t>
            </a:r>
            <a:br>
              <a:rPr sz="2400"/>
            </a:br>
            <a:r>
              <a:rPr sz="2400"/>
              <a:t>    }</a:t>
            </a:r>
            <a:br>
              <a:rPr sz="2400"/>
            </a:br>
            <a:r>
              <a:rPr sz="2400"/>
              <a:t>}</a:t>
            </a:r>
            <a:br>
              <a:rPr sz="2400"/>
            </a:b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Limitation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/>
              <a:t>Subclass restricts or disables behavior of the parent class.</a:t>
            </a:r>
            <a:br>
              <a:rPr sz="2800"/>
            </a:br>
            <a:r>
              <a:rPr sz="2800"/>
              <a:t>Often violates substitutability.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Example: 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552243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>
              <a:rPr sz="2400"/>
            </a:br>
            <a:r>
              <a:rPr sz="2400"/>
              <a:t>class LimitedList&lt;E&gt; extends java.util.ArrayList&lt;E&gt; {</a:t>
            </a:r>
            <a:br>
              <a:rPr sz="2400"/>
            </a:br>
            <a:br>
              <a:rPr sz="2400"/>
            </a:br>
            <a:r>
              <a:rPr sz="2400"/>
              <a:t>    @Override</a:t>
            </a:r>
            <a:br>
              <a:rPr sz="2400"/>
            </a:br>
            <a:r>
              <a:rPr sz="2400"/>
              <a:t>    public boolean add(E e) {</a:t>
            </a:r>
            <a:br>
              <a:rPr sz="2400"/>
            </a:br>
            <a:r>
              <a:rPr sz="2400"/>
              <a:t>        throw new UnsupportedOperationException();</a:t>
            </a:r>
            <a:br>
              <a:rPr sz="2400"/>
            </a:br>
            <a:r>
              <a:rPr sz="2400"/>
              <a:t>    }</a:t>
            </a:r>
            <a:br>
              <a:rPr sz="2400"/>
            </a:br>
            <a:r>
              <a:rPr sz="2400"/>
              <a:t>}</a:t>
            </a:r>
            <a:br>
              <a:rPr sz="2400"/>
            </a:b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/>
              <a:t>Two similar classes have no clear hierarchy direction.</a:t>
            </a:r>
            <a:br>
              <a:rPr sz="2800"/>
            </a:br>
            <a:r>
              <a:rPr sz="2800"/>
              <a:t>A shared abstraction is typically extracted.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Example: 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844596" cy="4893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>
              <a:rPr sz="2400"/>
            </a:br>
            <a:r>
              <a:rPr sz="2400"/>
              <a:t>abstract class PointingDevice {</a:t>
            </a:r>
            <a:br>
              <a:rPr sz="2400"/>
            </a:br>
            <a:r>
              <a:rPr sz="2400"/>
              <a:t>    abstract void move(int dx, int dy);</a:t>
            </a:r>
            <a:br>
              <a:rPr sz="2400"/>
            </a:br>
            <a:r>
              <a:rPr sz="2400"/>
              <a:t>}</a:t>
            </a:r>
            <a:br>
              <a:rPr sz="2400"/>
            </a:br>
            <a:br>
              <a:rPr sz="2400"/>
            </a:br>
            <a:r>
              <a:rPr sz="2400"/>
              <a:t>class Mouse extends PointingDevice {</a:t>
            </a:r>
            <a:br>
              <a:rPr sz="2400"/>
            </a:br>
            <a:r>
              <a:rPr sz="2400"/>
              <a:t>    void move(int dx, int dy) {}</a:t>
            </a:r>
            <a:br>
              <a:rPr sz="2400"/>
            </a:br>
            <a:r>
              <a:rPr sz="2400"/>
              <a:t>}</a:t>
            </a:r>
            <a:br>
              <a:rPr sz="2400"/>
            </a:br>
            <a:br>
              <a:rPr sz="2400"/>
            </a:br>
            <a:r>
              <a:rPr sz="2400"/>
              <a:t>class Tablet extends PointingDevice {</a:t>
            </a:r>
            <a:br>
              <a:rPr sz="2400"/>
            </a:br>
            <a:r>
              <a:rPr sz="2400"/>
              <a:t>    void move(int dx, int dy) {}</a:t>
            </a:r>
            <a:br>
              <a:rPr sz="2400"/>
            </a:br>
            <a:r>
              <a:rPr sz="2400"/>
              <a:t>}</a:t>
            </a:r>
            <a:br>
              <a:rPr sz="2400"/>
            </a:b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Combination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/>
              <a:t>Subclass combines properties of multiple parent concepts.</a:t>
            </a:r>
            <a:br>
              <a:rPr sz="2800"/>
            </a:br>
            <a:r>
              <a:rPr sz="2800"/>
              <a:t>Java approximates this using interfaces.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Example: Combination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479612" cy="5324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interface Student {</a:t>
            </a:r>
            <a:br>
              <a:rPr sz="2000"/>
            </a:br>
            <a:r>
              <a:rPr sz="2000"/>
              <a:t>    void study();</a:t>
            </a:r>
            <a:br>
              <a:rPr sz="2000"/>
            </a:br>
            <a:r>
              <a:rPr sz="2000"/>
              <a:t>}</a:t>
            </a:r>
            <a:br>
              <a:rPr sz="2000"/>
            </a:br>
            <a:br>
              <a:rPr sz="2000"/>
            </a:br>
            <a:r>
              <a:rPr sz="2000"/>
              <a:t>interface Teacher {</a:t>
            </a:r>
            <a:br>
              <a:rPr sz="2000"/>
            </a:br>
            <a:r>
              <a:rPr sz="2000"/>
              <a:t>    void teach();</a:t>
            </a:r>
            <a:br>
              <a:rPr sz="2000"/>
            </a:br>
            <a:r>
              <a:rPr sz="2000"/>
              <a:t>}</a:t>
            </a:r>
            <a:br>
              <a:rPr sz="2000"/>
            </a:br>
            <a:br>
              <a:rPr sz="2000"/>
            </a:br>
            <a:r>
              <a:rPr sz="2000"/>
              <a:t>class Person {</a:t>
            </a:r>
            <a:br>
              <a:rPr sz="2000"/>
            </a:br>
            <a:r>
              <a:rPr sz="2000"/>
              <a:t>    String name;</a:t>
            </a:r>
            <a:br>
              <a:rPr sz="2000"/>
            </a:br>
            <a:r>
              <a:rPr sz="2000"/>
              <a:t>}</a:t>
            </a:r>
            <a:br>
              <a:rPr sz="2000"/>
            </a:br>
            <a:br>
              <a:rPr sz="2000"/>
            </a:br>
            <a:r>
              <a:rPr sz="2000"/>
              <a:t>class TeachingAssistant extends Person implements Student, Teacher {</a:t>
            </a:r>
            <a:br>
              <a:rPr sz="2000"/>
            </a:br>
            <a:r>
              <a:rPr sz="2000"/>
              <a:t>    public void study() {}</a:t>
            </a:r>
            <a:br>
              <a:rPr sz="2000"/>
            </a:br>
            <a:r>
              <a:rPr sz="2000"/>
              <a:t>    public void teach() {}</a:t>
            </a:r>
            <a:br>
              <a:rPr sz="2000"/>
            </a:br>
            <a:r>
              <a:rPr sz="2000"/>
              <a:t>}</a:t>
            </a:r>
            <a:br>
              <a:rPr sz="2000"/>
            </a:b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sz="2800"/>
              <a:t>Specialization — subtype relationship</a:t>
            </a:r>
            <a:br>
              <a:rPr sz="2800"/>
            </a:br>
            <a:r>
              <a:rPr sz="2800"/>
              <a:t>Specification — contract inheritance</a:t>
            </a:r>
            <a:br>
              <a:rPr sz="2800"/>
            </a:br>
            <a:r>
              <a:rPr sz="2800"/>
              <a:t>Construction — reuse implementation</a:t>
            </a:r>
            <a:br>
              <a:rPr sz="2800"/>
            </a:br>
            <a:r>
              <a:rPr sz="2800"/>
              <a:t>Generalization — broaden behavior</a:t>
            </a:r>
            <a:br>
              <a:rPr sz="2800"/>
            </a:br>
            <a:r>
              <a:rPr sz="2800"/>
              <a:t>Extension — add new functionality</a:t>
            </a:r>
            <a:br>
              <a:rPr sz="2800"/>
            </a:br>
            <a:r>
              <a:rPr sz="2800"/>
              <a:t>Limitation — restrict inherited behavior</a:t>
            </a:r>
            <a:br>
              <a:rPr sz="2800"/>
            </a:br>
            <a:r>
              <a:rPr sz="2800"/>
              <a:t>Variance — ambiguous hierarchy</a:t>
            </a:r>
            <a:br>
              <a:rPr sz="2800"/>
            </a:br>
            <a:r>
              <a:rPr sz="2800"/>
              <a:t>Combination — combine multiple parents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Liskov Substitution Principle (LSP)</a:t>
            </a:r>
          </a:p>
          <a:p>
            <a:pPr>
              <a:defRPr sz="2400"/>
            </a:pPr>
            <a:r>
              <a:t>Composition over inheritance</a:t>
            </a:r>
          </a:p>
          <a:p>
            <a:pPr>
              <a:defRPr sz="2400"/>
            </a:pPr>
            <a:r>
              <a:t>Prefer interfaces for abstraction</a:t>
            </a:r>
          </a:p>
          <a:p>
            <a:pPr>
              <a:defRPr sz="2400"/>
            </a:pPr>
            <a:r>
              <a:t>Minimize deep inheritance hierarchies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Evaluation of Budd's Forms with Modern Principles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727859"/>
          <a:ext cx="8229600" cy="412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t>Inheritance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Modern Assessment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t>Specialization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Recommended; aligns with LSP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t>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Recommended; corresponds to interfaces/abstract classes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t>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Discouraged; better solved via composition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t>Generalization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Situational; must preserve LSP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t>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Acceptable if base behavior unchanged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t>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Usually violates LSP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Often indicates missing abstraction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t>Combination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 interfaces or composition in Java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Example: Composition Instead of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Instead of subclassing to reuse implementation, embed the class.</a:t>
            </a:r>
          </a:p>
          <a:p>
            <a:pPr>
              <a:defRPr sz="2400"/>
            </a:pPr>
            <a:r>
              <a:t>Avoids false 'is-a' relationships.</a:t>
            </a:r>
          </a:p>
          <a:p>
            <a:pPr>
              <a:defRPr sz="2400"/>
            </a:pPr>
            <a:r>
              <a:t>Improves maintainability.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Bad: Stack extends ArrayList</a:t>
            </a:r>
          </a:p>
          <a:p>
            <a:pPr>
              <a:defRPr sz="2400"/>
            </a:pPr>
            <a:r>
              <a:t>Better: Stack contains an ArrayList</a:t>
            </a:r>
          </a:p>
          <a:p>
            <a:pPr>
              <a:defRPr sz="2400"/>
            </a:pPr>
            <a:r>
              <a:t>Demonstrates composition over inheritance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cfc8c2f-5b5e-4f0b-af95-b31eaf277d35}" enabled="1" method="Standard" siteId="{124ccfbd-07ea-44e3-8794-af8986d6380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886</Words>
  <Application>Microsoft Macintosh PowerPoint</Application>
  <PresentationFormat>On-screen Show (4:3)</PresentationFormat>
  <Paragraphs>72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Inheritance Types in OOP</vt:lpstr>
      <vt:lpstr>Overview</vt:lpstr>
      <vt:lpstr>1. Specialization</vt:lpstr>
      <vt:lpstr>Java Example: Specialization</vt:lpstr>
      <vt:lpstr>2. Specification</vt:lpstr>
      <vt:lpstr>Java Example: Specification</vt:lpstr>
      <vt:lpstr>3. Construction</vt:lpstr>
      <vt:lpstr>Java Example: Construction</vt:lpstr>
      <vt:lpstr>4. Generalization</vt:lpstr>
      <vt:lpstr>Java Example: Generalization</vt:lpstr>
      <vt:lpstr>5. Extension</vt:lpstr>
      <vt:lpstr>Java Example: Extension</vt:lpstr>
      <vt:lpstr>6. Limitation</vt:lpstr>
      <vt:lpstr>Java Example: Limitation</vt:lpstr>
      <vt:lpstr>7. Variance</vt:lpstr>
      <vt:lpstr>Java Example: Variance</vt:lpstr>
      <vt:lpstr>8. Combination</vt:lpstr>
      <vt:lpstr>Java Example: Combination</vt:lpstr>
      <vt:lpstr>Summary</vt:lpstr>
      <vt:lpstr>Modern Design Principles</vt:lpstr>
      <vt:lpstr>Evaluation of Budd's Forms with Modern Principles</vt:lpstr>
      <vt:lpstr>Example: Composition Instead of Construction</vt:lpstr>
      <vt:lpstr>Example Pattern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Zaal Beriashvili</cp:lastModifiedBy>
  <cp:revision>8</cp:revision>
  <dcterms:created xsi:type="dcterms:W3CDTF">2013-01-27T09:14:16Z</dcterms:created>
  <dcterms:modified xsi:type="dcterms:W3CDTF">2026-03-06T08:57:42Z</dcterms:modified>
  <cp:category/>
</cp:coreProperties>
</file>