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Timothy Budd — Object-Oriented Programming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Chapter-by-Chapter Overview (21 Chapters)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Chapter 1 — Object-Oriented Thinking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Introduction to the OOP paradigm</a:t>
            </a:r>
          </a:p>
          <a:p>
            <a:pPr>
              <a:defRPr sz="2400"/>
            </a:pPr>
            <a:r>
              <a:t>Comparison with procedural programming</a:t>
            </a:r>
          </a:p>
          <a:p>
            <a:pPr>
              <a:defRPr sz="2400"/>
            </a:pPr>
            <a:r>
              <a:t>Objects, messages, and modeling real-world systems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Chapter 2 — Responsibility-Driven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Design using responsibilities and collaborations</a:t>
            </a:r>
          </a:p>
          <a:p>
            <a:pPr>
              <a:defRPr sz="2400"/>
            </a:pPr>
            <a:r>
              <a:t>CRC cards technique</a:t>
            </a:r>
          </a:p>
          <a:p>
            <a:pPr>
              <a:defRPr sz="2400"/>
            </a:pPr>
            <a:r>
              <a:t>Early-stage object-oriented design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Chapter 3 — Classes and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Structure of classes</a:t>
            </a:r>
          </a:p>
          <a:p>
            <a:pPr>
              <a:defRPr sz="2400"/>
            </a:pPr>
            <a:r>
              <a:t>Attributes and methods</a:t>
            </a:r>
          </a:p>
          <a:p>
            <a:pPr>
              <a:defRPr sz="2400"/>
            </a:pPr>
            <a:r>
              <a:t>Syntax across OOP languages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Chapter 4 — Object Creation and Message Passing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Object instantiation</a:t>
            </a:r>
          </a:p>
          <a:p>
            <a:pPr>
              <a:defRPr sz="2400"/>
            </a:pPr>
            <a:r>
              <a:t>Runtime message passing</a:t>
            </a:r>
          </a:p>
          <a:p>
            <a:pPr>
              <a:defRPr sz="2400"/>
            </a:pPr>
            <a:r>
              <a:t>Dynamic interaction between objects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Chapter 5 — Program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Educational object-oriented programs</a:t>
            </a:r>
          </a:p>
          <a:p>
            <a:pPr>
              <a:defRPr sz="2400"/>
            </a:pPr>
            <a:r>
              <a:t>Illustrating encapsulation and interaction</a:t>
            </a:r>
          </a:p>
          <a:p>
            <a:pPr>
              <a:defRPr sz="2400"/>
            </a:pPr>
            <a:r>
              <a:t>Practical code structures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Chapter 6 — Additional OOP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Larger examples of OOP design</a:t>
            </a:r>
          </a:p>
          <a:p>
            <a:pPr>
              <a:defRPr sz="2400"/>
            </a:pPr>
            <a:r>
              <a:t>Combining multiple classes</a:t>
            </a:r>
          </a:p>
          <a:p>
            <a:pPr>
              <a:defRPr sz="2400"/>
            </a:pPr>
            <a:r>
              <a:t>Modeling more complex systems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Chapter 7 — Introduction to Inheritance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Class hierarchies</a:t>
            </a:r>
          </a:p>
          <a:p>
            <a:pPr>
              <a:defRPr sz="2400"/>
            </a:pPr>
            <a:r>
              <a:t>Subclassing and reuse</a:t>
            </a:r>
          </a:p>
          <a:p>
            <a:pPr>
              <a:defRPr sz="2400"/>
            </a:pPr>
            <a:r>
              <a:t>Inheritance fundamentals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Chapter 8 — Inheritance in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Practical inheritance examples</a:t>
            </a:r>
          </a:p>
          <a:p>
            <a:pPr>
              <a:defRPr sz="2400"/>
            </a:pPr>
            <a:r>
              <a:t>Java-based illustration</a:t>
            </a:r>
          </a:p>
          <a:p>
            <a:pPr>
              <a:defRPr sz="2400"/>
            </a:pPr>
            <a:r>
              <a:t>Use of standard APIs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Chapter 9 — Inheritance vs Composition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Comparing reuse techniques</a:t>
            </a:r>
          </a:p>
          <a:p>
            <a:pPr>
              <a:defRPr sz="2400"/>
            </a:pPr>
            <a:r>
              <a:t>Advantages and trade-offs</a:t>
            </a:r>
          </a:p>
          <a:p>
            <a:pPr>
              <a:defRPr sz="2400"/>
            </a:pPr>
            <a:r>
              <a:t>Design implications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Chapter 10 — Method Lookup and Binding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Dynamic method lookup</a:t>
            </a:r>
          </a:p>
          <a:p>
            <a:pPr>
              <a:defRPr sz="2400"/>
            </a:pPr>
            <a:r>
              <a:t>Binding of messages to methods</a:t>
            </a:r>
          </a:p>
          <a:p>
            <a:pPr>
              <a:defRPr sz="2400"/>
            </a:pPr>
            <a:r>
              <a:t>Subtype vs subclass distinction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Chapter 11 — Method Overriding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Overriding semantics</a:t>
            </a:r>
          </a:p>
          <a:p>
            <a:pPr>
              <a:defRPr sz="2400"/>
            </a:pPr>
            <a:r>
              <a:t>Different interpretations in languages</a:t>
            </a:r>
          </a:p>
          <a:p>
            <a:pPr>
              <a:defRPr sz="2400"/>
            </a:pPr>
            <a:r>
              <a:t>Behavior customization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Chapter 12 — Inheritance and Object Semantics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Impact on assignment and equality</a:t>
            </a:r>
          </a:p>
          <a:p>
            <a:pPr>
              <a:defRPr sz="2400"/>
            </a:pPr>
            <a:r>
              <a:t>Memory management effects</a:t>
            </a:r>
          </a:p>
          <a:p>
            <a:pPr>
              <a:defRPr sz="2400"/>
            </a:pPr>
            <a:r>
              <a:t>Language semantics considerations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Chapter 13 — Multiple Inheritance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Multiple inheritance mechanisms</a:t>
            </a:r>
          </a:p>
          <a:p>
            <a:pPr>
              <a:defRPr sz="2400"/>
            </a:pPr>
            <a:r>
              <a:t>Advantages and difficulties</a:t>
            </a:r>
          </a:p>
          <a:p>
            <a:pPr>
              <a:defRPr sz="2400"/>
            </a:pPr>
            <a:r>
              <a:t>Conflict resolution strategies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Chapter 14 — Polymorphism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Different forms of polymorphism</a:t>
            </a:r>
          </a:p>
          <a:p>
            <a:pPr>
              <a:defRPr sz="2400"/>
            </a:pPr>
            <a:r>
              <a:t>Dynamic behavior selection</a:t>
            </a:r>
          </a:p>
          <a:p>
            <a:pPr>
              <a:defRPr sz="2400"/>
            </a:pPr>
            <a:r>
              <a:t>Importance in flexible software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Chapter 15 — Reusable Libraries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Designing reusable class libraries</a:t>
            </a:r>
          </a:p>
          <a:p>
            <a:pPr>
              <a:defRPr sz="2400"/>
            </a:pPr>
            <a:r>
              <a:t>General-purpose software components</a:t>
            </a:r>
          </a:p>
          <a:p>
            <a:pPr>
              <a:defRPr sz="2400"/>
            </a:pPr>
            <a:r>
              <a:t>Encapsulation and reuse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Chapter 16 — The C++ STL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Standard Template Library overview</a:t>
            </a:r>
          </a:p>
          <a:p>
            <a:pPr>
              <a:defRPr sz="2400"/>
            </a:pPr>
            <a:r>
              <a:t>Generic programming</a:t>
            </a:r>
          </a:p>
          <a:p>
            <a:pPr>
              <a:defRPr sz="2400"/>
            </a:pPr>
            <a:r>
              <a:t>Containers, iterators, algorithms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Chapter 17 — Software Engineering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Managing complexity</a:t>
            </a:r>
          </a:p>
          <a:p>
            <a:pPr>
              <a:defRPr sz="2400"/>
            </a:pPr>
            <a:r>
              <a:t>Modularity and maintainability</a:t>
            </a:r>
          </a:p>
          <a:p>
            <a:pPr>
              <a:defRPr sz="2400"/>
            </a:pPr>
            <a:r>
              <a:t>OOP in large software systems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Chapter 18 — Frameworks and Design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Application frameworks</a:t>
            </a:r>
          </a:p>
          <a:p>
            <a:pPr>
              <a:defRPr sz="2400"/>
            </a:pPr>
            <a:r>
              <a:t>Reusable architectural patterns</a:t>
            </a:r>
          </a:p>
          <a:p>
            <a:pPr>
              <a:defRPr sz="2400"/>
            </a:pPr>
            <a:r>
              <a:t>Class libraries and reuse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Chapter 19 — Example Application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Concrete framework example</a:t>
            </a:r>
          </a:p>
          <a:p>
            <a:pPr>
              <a:defRPr sz="2400"/>
            </a:pPr>
            <a:r>
              <a:t>Combining reusable components</a:t>
            </a:r>
          </a:p>
          <a:p>
            <a:pPr>
              <a:defRPr sz="2400"/>
            </a:pPr>
            <a:r>
              <a:t>Architecture of large systems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Chapter 20 — Advanced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Delegation</a:t>
            </a:r>
          </a:p>
          <a:p>
            <a:pPr>
              <a:defRPr sz="2400"/>
            </a:pPr>
            <a:r>
              <a:t>Metaclasses</a:t>
            </a:r>
          </a:p>
          <a:p>
            <a:pPr>
              <a:defRPr sz="2400"/>
            </a:pPr>
            <a:r>
              <a:t>Advanced OOP ideas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Chapter 21 — Implementation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How OOP languages are implemented</a:t>
            </a:r>
          </a:p>
          <a:p>
            <a:pPr>
              <a:defRPr sz="2400"/>
            </a:pPr>
            <a:r>
              <a:t>Runtime systems</a:t>
            </a:r>
          </a:p>
          <a:p>
            <a:pPr>
              <a:defRPr sz="2400"/>
            </a:pPr>
            <a:r>
              <a:t>Method dispatch and object representation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